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Still. A bounded, non-clinical check-in agent for students. One question, one useful action, then it stops.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newindianexpress.com, 29 Sep 2026 — 9% students reported suicidal thoughts, 34% felt like outsiders on campus: SC task force survey. Officials called the findings preliminary; the sample is not representative.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extremes today: talk to an AI indefinitely, or get a link and be left alone with the next step. Still is the middle: short, bounded, one action, then it stops.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app. ASK, UNDERSTAND, DECIDE, ACT, STOP. The model understands; the server decides; one allowlisted executor acts. Crisis language never reaches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is enforced in code, in this order: phrase backstop, model risk, server policy. UNCERTAIN can only lead to one clarification, and the original response is re-checked.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pass per check-in, no loop back to the model. Everything the student can be shown — skills, steps, helplines — comes from reviewed configuration, never from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874520"/>
            <a:ext cx="7315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0" b="1" spc="-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still.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343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4DC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non-clinical check-in agent for students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6692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 Agentic Bootcamp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Srishanth + Shaan  ·  September 30,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niversity student alone at a desk with a laptop and notes, late eve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297680" cy="6858000"/>
          </a:xfrm>
          <a:prstGeom prst="rect">
            <a:avLst/>
          </a:prstGeom>
        </p:spPr>
      </p:pic>
      <p:pic>
        <p:nvPicPr>
          <p:cNvPr id="3" name="Image 1" descr="/home/user/Sustain-Agentic-Bootcamp-/deck/assets/orb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509760" y="-1463040"/>
            <a:ext cx="3840480" cy="3840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8920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PROBLEM, RIGHT NOW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4892040" y="86868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wellbeing isn't an occasional problem.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4892040" y="214884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2.43 lakh+</a:t>
            </a:r>
            <a:endParaRPr lang="en-US" sz="6400" dirty="0"/>
          </a:p>
        </p:txBody>
      </p:sp>
      <p:sp>
        <p:nvSpPr>
          <p:cNvPr id="7" name="Text 3"/>
          <p:cNvSpPr txBox="1"/>
          <p:nvPr/>
        </p:nvSpPr>
        <p:spPr>
          <a:xfrm>
            <a:off x="4937760" y="3108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higher-education students responded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8412480" y="3081528"/>
            <a:ext cx="3017520" cy="365760"/>
          </a:xfrm>
          <a:prstGeom prst="roundRect">
            <a:avLst>
              <a:gd name="adj" fmla="val 52500"/>
            </a:avLst>
          </a:prstGeom>
          <a:solidFill>
            <a:srgbClr val="F1EDFD"/>
          </a:solidFill>
          <a:ln w="12700">
            <a:solidFill>
              <a:srgbClr val="F1EDF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41248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PRELIMINARY · NOT REPRESENTATIVE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38404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5400" dirty="0"/>
          </a:p>
        </p:txBody>
      </p:sp>
      <p:sp>
        <p:nvSpPr>
          <p:cNvPr id="11" name="Text 7"/>
          <p:cNvSpPr txBox="1"/>
          <p:nvPr/>
        </p:nvSpPr>
        <p:spPr>
          <a:xfrm>
            <a:off x="4919472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felt very overwhelmed, distressed or low for weeks in the past 6 months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38404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5400" dirty="0"/>
          </a:p>
        </p:txBody>
      </p:sp>
      <p:sp>
        <p:nvSpPr>
          <p:cNvPr id="13" name="Text 9"/>
          <p:cNvSpPr txBox="1"/>
          <p:nvPr/>
        </p:nvSpPr>
        <p:spPr>
          <a:xfrm>
            <a:off x="7205472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had suicidal thoughts often or very often in the past year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464040" y="38404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spc="-200" kern="0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5400" dirty="0"/>
          </a:p>
        </p:txBody>
      </p:sp>
      <p:sp>
        <p:nvSpPr>
          <p:cNvPr id="15" name="Text 11"/>
          <p:cNvSpPr txBox="1"/>
          <p:nvPr/>
        </p:nvSpPr>
        <p:spPr>
          <a:xfrm>
            <a:off x="9491472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felt like an outsider on campus, to varying degrees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5806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~32% </a:t>
            </a:r>
            <a:pPr indent="0" marL="0"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said their institution did not provide counselling services.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892040" y="619963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Preliminary, non-representative findings from the Supreme Court-appointed National Task Force survey, as reported on 29 Sep 2026 (The New Indian Express).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 gap between “talk” and “help”.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246120" cy="3749040"/>
          </a:xfrm>
          <a:prstGeom prst="rect">
            <a:avLst/>
          </a:prstGeom>
          <a:solidFill>
            <a:srgbClr val="F1EDFD"/>
          </a:solidFill>
          <a:ln w="12700">
            <a:solidFill>
              <a:srgbClr val="F1EDF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377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forever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Open-ended AI conversations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endpoint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concrete action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394192" y="2057400"/>
            <a:ext cx="3246120" cy="3749040"/>
          </a:xfrm>
          <a:prstGeom prst="rect">
            <a:avLst/>
          </a:prstGeom>
          <a:solidFill>
            <a:srgbClr val="F1EDFD"/>
          </a:solidFill>
          <a:ln w="12700">
            <a:solidFill>
              <a:srgbClr val="F1ED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714232" y="2377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714232" y="269748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Disappear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714232" y="3611880"/>
            <a:ext cx="2651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pages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Helpline links</a:t>
            </a:r>
            <a:endParaRPr lang="en-US" sz="15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step is left to the student</a:t>
            </a:r>
            <a:endParaRPr lang="en-US" sz="1500" dirty="0"/>
          </a:p>
        </p:txBody>
      </p:sp>
      <p:pic>
        <p:nvPicPr>
          <p:cNvPr id="12" name="Image 0" descr="/home/user/Sustain-Agentic-Bootcamp-/deck/assets/panel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783080"/>
            <a:ext cx="4142232" cy="443484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389120" y="21031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still.</a:t>
            </a:r>
            <a:endParaRPr lang="en-US" sz="58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32461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check-in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Understands the situation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Takes ONE useful action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when to stop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4434840" y="516636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D9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therapist.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D9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silent void.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825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forever or disappear. Still sits in the gap.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Still. does one thing differently.</a:t>
            </a:r>
            <a:endParaRPr lang="en-US" sz="3200" dirty="0"/>
          </a:p>
        </p:txBody>
      </p:sp>
      <p:pic>
        <p:nvPicPr>
          <p:cNvPr id="4" name="Image 0" descr="/home/user/Sustain-Agentic-Bootcamp-/deck/assets/orb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-1097280" y="2194560"/>
            <a:ext cx="5120640" cy="5120640"/>
          </a:xfrm>
          <a:prstGeom prst="rect">
            <a:avLst/>
          </a:prstGeom>
        </p:spPr>
      </p:pic>
      <p:pic>
        <p:nvPicPr>
          <p:cNvPr id="5" name="Image 1" descr="Still app: Prioritize skill with a 15-minute focus timer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6355080" cy="4535424"/>
          </a:xfrm>
          <a:prstGeom prst="rect">
            <a:avLst/>
          </a:prstGeom>
          <a:effectLst>
            <a:outerShdw sx="100000" sy="100000" kx="0" ky="0" algn="bl" rotWithShape="0" blurRad="228600" dist="50800" dir="5400000">
              <a:srgbClr val="2A1A66">
                <a:alpha val="18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548640" y="640080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app: “three assignments due this week” → Prioritize → 15-minute focus, running.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7488936" y="1938528"/>
            <a:ext cx="0" cy="1828800"/>
          </a:xfrm>
          <a:prstGeom prst="line">
            <a:avLst/>
          </a:prstGeom>
          <a:noFill/>
          <a:ln w="19050">
            <a:solidFill>
              <a:srgbClr val="E4DCFB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406640" y="1856232"/>
            <a:ext cx="164592" cy="164592"/>
          </a:xfrm>
          <a:prstGeom prst="ellipse">
            <a:avLst/>
          </a:prstGeom>
          <a:solidFill>
            <a:srgbClr val="5B3C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26680" y="18013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 </a:t>
            </a:r>
            <a:pPr indent="0" marL="0">
              <a:buNone/>
            </a:pPr>
            <a:r>
              <a:rPr lang="en-US" sz="13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short scheduled check-in.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406640" y="2313432"/>
            <a:ext cx="164592" cy="164592"/>
          </a:xfrm>
          <a:prstGeom prst="ellipse">
            <a:avLst/>
          </a:prstGeom>
          <a:solidFill>
            <a:srgbClr val="5B3C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26680" y="2258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 </a:t>
            </a:r>
            <a:pPr indent="0" marL="0">
              <a:buNone/>
            </a:pPr>
            <a:r>
              <a:rPr lang="en-US" sz="13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reads situation + need.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06640" y="2770632"/>
            <a:ext cx="164592" cy="164592"/>
          </a:xfrm>
          <a:prstGeom prst="ellipse">
            <a:avLst/>
          </a:prstGeom>
          <a:solidFill>
            <a:srgbClr val="5B3C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26680" y="2715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 </a:t>
            </a:r>
            <a:pPr indent="0" marL="0">
              <a:buNone/>
            </a:pPr>
            <a:r>
              <a:rPr lang="en-US" sz="13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policy picks an approved action.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06640" y="3227832"/>
            <a:ext cx="164592" cy="164592"/>
          </a:xfrm>
          <a:prstGeom prst="ellipse">
            <a:avLst/>
          </a:prstGeom>
          <a:solidFill>
            <a:srgbClr val="5B3C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26680" y="31729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 </a:t>
            </a:r>
            <a:pPr indent="0" marL="0">
              <a:buNone/>
            </a:pPr>
            <a:r>
              <a:rPr lang="en-US" sz="13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real, bounded action runs.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3685032"/>
            <a:ext cx="164592" cy="164592"/>
          </a:xfrm>
          <a:prstGeom prst="ellipse">
            <a:avLst/>
          </a:prstGeom>
          <a:solidFill>
            <a:srgbClr val="2A1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726680" y="36301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 </a:t>
            </a:r>
            <a:pPr indent="0" marL="0">
              <a:buNone/>
            </a:pPr>
            <a:r>
              <a:rPr lang="en-US" sz="13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endless chat.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43434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0" y="4663440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“Three assignments due this week…”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15-minute focus timer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406640" y="5093208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“Wound up about tomorrow's presentation…”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60-second breathing guide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7406640" y="552297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feel very alone right now…”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reviewed message, ready to copy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0" y="5952744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Crisis phrase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verified helpline · flow stops · model not called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stain-Agentic-Bootcamp-/deck/assets/panel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8978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486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around a clear protocol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A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crisis phrases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caught before the model is called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SAFE / HIGH_RISK / UNCERTAIN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UNCERTAIN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never becomes a safe action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HIGH_RISK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human help · verified public helpline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2578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system is an execution boundary, not just a prompt instruction.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GOALS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10241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10972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144475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Scheduled, non-clinical student check-ins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10312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0" y="21762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Measurable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25237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action per check-in · explicit crisis always escalates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3182112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3255264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Achievable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0" y="36027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skills + deterministic safety backstop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46520" y="4261104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4400" dirty="0"/>
          </a:p>
        </p:txBody>
      </p:sp>
      <p:sp>
        <p:nvSpPr>
          <p:cNvPr id="21" name="Text 18"/>
          <p:cNvSpPr txBox="1"/>
          <p:nvPr/>
        </p:nvSpPr>
        <p:spPr>
          <a:xfrm>
            <a:off x="7315200" y="433425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468172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support for everyday student moments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6446520" y="534009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44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0" y="54132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Time-bound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0" y="576072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normal + crisis paths in the live demo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ustain-Agentic-Bootcamp-/deck/assets/orb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9326880" y="-1828800"/>
            <a:ext cx="420624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22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agent, without the black box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783080"/>
            <a:ext cx="1243584" cy="1243584"/>
          </a:xfrm>
          <a:prstGeom prst="ellipse">
            <a:avLst/>
          </a:prstGeom>
          <a:solidFill>
            <a:srgbClr val="F1EDFD"/>
          </a:solidFill>
          <a:ln w="12700">
            <a:solidFill>
              <a:srgbClr val="F1ED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1847088" y="2404872"/>
            <a:ext cx="292608" cy="0"/>
          </a:xfrm>
          <a:prstGeom prst="line">
            <a:avLst/>
          </a:prstGeom>
          <a:noFill/>
          <a:ln w="19050">
            <a:solidFill>
              <a:srgbClr val="B9A8F2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194560" y="1783080"/>
            <a:ext cx="1243584" cy="1243584"/>
          </a:xfrm>
          <a:prstGeom prst="ellipse">
            <a:avLst/>
          </a:prstGeom>
          <a:solidFill>
            <a:srgbClr val="5B3CC4"/>
          </a:solidFill>
          <a:ln w="12700">
            <a:solidFill>
              <a:srgbClr val="5B3CC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4028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BACKSTOP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493008" y="2404872"/>
            <a:ext cx="292608" cy="0"/>
          </a:xfrm>
          <a:prstGeom prst="line">
            <a:avLst/>
          </a:prstGeom>
          <a:noFill/>
          <a:ln w="19050">
            <a:solidFill>
              <a:srgbClr val="B9A8F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840480" y="1783080"/>
            <a:ext cx="1243584" cy="1243584"/>
          </a:xfrm>
          <a:prstGeom prst="ellipse">
            <a:avLst/>
          </a:prstGeom>
          <a:solidFill>
            <a:srgbClr val="5B3CC4"/>
          </a:solidFill>
          <a:ln w="12700">
            <a:solidFill>
              <a:srgbClr val="5B3CC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8620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138928" y="2404872"/>
            <a:ext cx="292608" cy="0"/>
          </a:xfrm>
          <a:prstGeom prst="line">
            <a:avLst/>
          </a:prstGeom>
          <a:noFill/>
          <a:ln w="19050">
            <a:solidFill>
              <a:srgbClr val="B9A8F2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486400" y="1783080"/>
            <a:ext cx="1243584" cy="1243584"/>
          </a:xfrm>
          <a:prstGeom prst="ellipse">
            <a:avLst/>
          </a:prstGeom>
          <a:solidFill>
            <a:srgbClr val="5B3CC4"/>
          </a:solidFill>
          <a:ln w="12700">
            <a:solidFill>
              <a:srgbClr val="5B3C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3212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784848" y="2404872"/>
            <a:ext cx="292608" cy="0"/>
          </a:xfrm>
          <a:prstGeom prst="line">
            <a:avLst/>
          </a:prstGeom>
          <a:noFill/>
          <a:ln w="19050">
            <a:solidFill>
              <a:srgbClr val="B9A8F2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132320" y="1783080"/>
            <a:ext cx="1243584" cy="1243584"/>
          </a:xfrm>
          <a:prstGeom prst="ellipse">
            <a:avLst/>
          </a:prstGeom>
          <a:solidFill>
            <a:srgbClr val="5B3CC4"/>
          </a:solidFill>
          <a:ln w="12700">
            <a:solidFill>
              <a:srgbClr val="5B3CC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17804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430768" y="2404872"/>
            <a:ext cx="292608" cy="0"/>
          </a:xfrm>
          <a:prstGeom prst="line">
            <a:avLst/>
          </a:prstGeom>
          <a:noFill/>
          <a:ln w="19050">
            <a:solidFill>
              <a:srgbClr val="B9A8F2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8778240" y="1783080"/>
            <a:ext cx="1243584" cy="1243584"/>
          </a:xfrm>
          <a:prstGeom prst="ellipse">
            <a:avLst/>
          </a:prstGeom>
          <a:solidFill>
            <a:srgbClr val="F1EDFD"/>
          </a:solidFill>
          <a:ln w="12700">
            <a:solidFill>
              <a:srgbClr val="F1ED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2396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HELP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0076688" y="2404872"/>
            <a:ext cx="292608" cy="0"/>
          </a:xfrm>
          <a:prstGeom prst="line">
            <a:avLst/>
          </a:prstGeom>
          <a:noFill/>
          <a:ln w="19050">
            <a:solidFill>
              <a:srgbClr val="B9A8F2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0424160" y="1783080"/>
            <a:ext cx="1243584" cy="1243584"/>
          </a:xfrm>
          <a:prstGeom prst="ellipse">
            <a:avLst/>
          </a:prstGeom>
          <a:solidFill>
            <a:srgbClr val="F1EDFD"/>
          </a:solidFill>
          <a:ln w="12700">
            <a:solidFill>
              <a:srgbClr val="F1EDF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469880" y="1783080"/>
            <a:ext cx="11521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1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749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reviewed crisis phrases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/ HIGH_RISK / UNCERTAIN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38328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383280" y="3749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 + need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limited context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17920" y="3749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authority. The model can't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tools, generate helplines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write counselling.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905256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EXECUTORS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3749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Timer · Breathing Guide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Message · Guided Reset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Acknowledge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50292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</a:t>
            </a:r>
            <a:pPr indent="0" marL="0">
              <a:buNone/>
            </a:pPr>
            <a:r>
              <a:rPr lang="en-US" sz="23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INTERPRETS. </a:t>
            </a:r>
            <a:pPr indent="0" marL="0">
              <a:buNone/>
            </a:pPr>
            <a:r>
              <a:rPr lang="en-US" sz="23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POLICY </a:t>
            </a:r>
            <a:pPr indent="0" marL="0">
              <a:buNone/>
            </a:pPr>
            <a:r>
              <a:rPr lang="en-US" sz="23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DECIDES. </a:t>
            </a:r>
            <a:pPr indent="0" marL="0">
              <a:buNone/>
            </a:pPr>
            <a:r>
              <a:rPr lang="en-US" sz="2300" b="1" dirty="0">
                <a:solidFill>
                  <a:srgbClr val="1C1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EXECUTOR </a:t>
            </a:r>
            <a:pPr indent="0" marL="0">
              <a:buNone/>
            </a:pPr>
            <a:r>
              <a:rPr lang="en-US" sz="2300" b="1" dirty="0">
                <a:solidFill>
                  <a:srgbClr val="5B3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ACTS.</a:t>
            </a:r>
            <a:endParaRPr lang="en-US" sz="2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8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· TypeScript · Vite · Node.js 22 · Express · SQLite · Zod · Groq / Ollama · Vitest · Supertest · Playwright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Still. — Sustain Agentic Bootcamp</dc:title>
  <dc:subject>PptxGenJS Presentation</dc:subject>
  <dc:creator>PptxGenJS</dc:creator>
  <cp:lastModifiedBy>PptxGenJS</cp:lastModifiedBy>
  <cp:revision>1</cp:revision>
  <dcterms:created xsi:type="dcterms:W3CDTF">2026-09-30T07:29:58Z</dcterms:created>
  <dcterms:modified xsi:type="dcterms:W3CDTF">2026-09-30T07:29:58Z</dcterms:modified>
</cp:coreProperties>
</file>